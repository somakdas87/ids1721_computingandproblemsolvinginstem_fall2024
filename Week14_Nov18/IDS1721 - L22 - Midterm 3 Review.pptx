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58" r:id="rId2"/>
    <p:sldId id="508" r:id="rId3"/>
    <p:sldId id="360" r:id="rId4"/>
    <p:sldId id="361" r:id="rId5"/>
    <p:sldId id="362" r:id="rId6"/>
    <p:sldId id="482" r:id="rId7"/>
    <p:sldId id="480" r:id="rId8"/>
    <p:sldId id="483" r:id="rId9"/>
    <p:sldId id="481" r:id="rId10"/>
    <p:sldId id="484" r:id="rId11"/>
    <p:sldId id="485" r:id="rId12"/>
    <p:sldId id="491" r:id="rId13"/>
    <p:sldId id="487" r:id="rId14"/>
    <p:sldId id="492" r:id="rId15"/>
    <p:sldId id="493" r:id="rId16"/>
    <p:sldId id="490" r:id="rId17"/>
    <p:sldId id="489" r:id="rId18"/>
    <p:sldId id="494" r:id="rId19"/>
    <p:sldId id="495" r:id="rId20"/>
    <p:sldId id="496" r:id="rId21"/>
    <p:sldId id="497" r:id="rId22"/>
    <p:sldId id="498" r:id="rId23"/>
    <p:sldId id="499" r:id="rId24"/>
    <p:sldId id="500" r:id="rId25"/>
    <p:sldId id="501" r:id="rId26"/>
    <p:sldId id="502" r:id="rId27"/>
    <p:sldId id="503" r:id="rId28"/>
    <p:sldId id="504" r:id="rId29"/>
    <p:sldId id="50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65"/>
  </p:normalViewPr>
  <p:slideViewPr>
    <p:cSldViewPr snapToGrid="0">
      <p:cViewPr varScale="1">
        <p:scale>
          <a:sx n="133" d="100"/>
          <a:sy n="133" d="100"/>
        </p:scale>
        <p:origin x="1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ford Barker" userId="8285239e-3342-4d7a-bf25-7cc5985f5988" providerId="ADAL" clId="{3E8CBFA2-7D8D-4B1C-87B2-BC572DE603F7}"/>
    <pc:docChg chg="custSel addSld modSld">
      <pc:chgData name="Bradford Barker" userId="8285239e-3342-4d7a-bf25-7cc5985f5988" providerId="ADAL" clId="{3E8CBFA2-7D8D-4B1C-87B2-BC572DE603F7}" dt="2024-11-14T14:07:20.395" v="376" actId="20577"/>
      <pc:docMkLst>
        <pc:docMk/>
      </pc:docMkLst>
      <pc:sldChg chg="modSp mod">
        <pc:chgData name="Bradford Barker" userId="8285239e-3342-4d7a-bf25-7cc5985f5988" providerId="ADAL" clId="{3E8CBFA2-7D8D-4B1C-87B2-BC572DE603F7}" dt="2024-11-14T14:03:45.518" v="80" actId="21"/>
        <pc:sldMkLst>
          <pc:docMk/>
          <pc:sldMk cId="2728198358" sldId="359"/>
        </pc:sldMkLst>
        <pc:spChg chg="mod">
          <ac:chgData name="Bradford Barker" userId="8285239e-3342-4d7a-bf25-7cc5985f5988" providerId="ADAL" clId="{3E8CBFA2-7D8D-4B1C-87B2-BC572DE603F7}" dt="2024-11-14T14:03:45.518" v="80" actId="21"/>
          <ac:spMkLst>
            <pc:docMk/>
            <pc:sldMk cId="2728198358" sldId="359"/>
            <ac:spMk id="3" creationId="{71D60BD5-CBCC-B67D-84A5-4DB5AEA4148A}"/>
          </ac:spMkLst>
        </pc:spChg>
      </pc:sldChg>
      <pc:sldChg chg="modSp mod">
        <pc:chgData name="Bradford Barker" userId="8285239e-3342-4d7a-bf25-7cc5985f5988" providerId="ADAL" clId="{3E8CBFA2-7D8D-4B1C-87B2-BC572DE603F7}" dt="2024-11-14T14:06:50.565" v="349" actId="6549"/>
        <pc:sldMkLst>
          <pc:docMk/>
          <pc:sldMk cId="3261630695" sldId="360"/>
        </pc:sldMkLst>
        <pc:spChg chg="mod">
          <ac:chgData name="Bradford Barker" userId="8285239e-3342-4d7a-bf25-7cc5985f5988" providerId="ADAL" clId="{3E8CBFA2-7D8D-4B1C-87B2-BC572DE603F7}" dt="2024-11-14T14:06:50.565" v="349" actId="6549"/>
          <ac:spMkLst>
            <pc:docMk/>
            <pc:sldMk cId="3261630695" sldId="360"/>
            <ac:spMk id="3" creationId="{5B95A786-7734-A27E-3078-289B3F9CEEFE}"/>
          </ac:spMkLst>
        </pc:spChg>
      </pc:sldChg>
      <pc:sldChg chg="modSp mod">
        <pc:chgData name="Bradford Barker" userId="8285239e-3342-4d7a-bf25-7cc5985f5988" providerId="ADAL" clId="{3E8CBFA2-7D8D-4B1C-87B2-BC572DE603F7}" dt="2024-11-14T14:07:20.395" v="376" actId="20577"/>
        <pc:sldMkLst>
          <pc:docMk/>
          <pc:sldMk cId="1151505233" sldId="361"/>
        </pc:sldMkLst>
        <pc:spChg chg="mod">
          <ac:chgData name="Bradford Barker" userId="8285239e-3342-4d7a-bf25-7cc5985f5988" providerId="ADAL" clId="{3E8CBFA2-7D8D-4B1C-87B2-BC572DE603F7}" dt="2024-11-14T14:07:20.395" v="376" actId="20577"/>
          <ac:spMkLst>
            <pc:docMk/>
            <pc:sldMk cId="1151505233" sldId="361"/>
            <ac:spMk id="3" creationId="{CC89E7AC-D182-B627-7F6F-CE39D6D8647B}"/>
          </ac:spMkLst>
        </pc:spChg>
      </pc:sldChg>
      <pc:sldChg chg="modSp new mod">
        <pc:chgData name="Bradford Barker" userId="8285239e-3342-4d7a-bf25-7cc5985f5988" providerId="ADAL" clId="{3E8CBFA2-7D8D-4B1C-87B2-BC572DE603F7}" dt="2024-11-13T21:43:27.528" v="79" actId="20577"/>
        <pc:sldMkLst>
          <pc:docMk/>
          <pc:sldMk cId="448404885" sldId="507"/>
        </pc:sldMkLst>
        <pc:spChg chg="mod">
          <ac:chgData name="Bradford Barker" userId="8285239e-3342-4d7a-bf25-7cc5985f5988" providerId="ADAL" clId="{3E8CBFA2-7D8D-4B1C-87B2-BC572DE603F7}" dt="2024-11-13T21:43:14.402" v="24" actId="20577"/>
          <ac:spMkLst>
            <pc:docMk/>
            <pc:sldMk cId="448404885" sldId="507"/>
            <ac:spMk id="2" creationId="{EB398411-49B6-43FB-4205-48819E581C71}"/>
          </ac:spMkLst>
        </pc:spChg>
        <pc:spChg chg="mod">
          <ac:chgData name="Bradford Barker" userId="8285239e-3342-4d7a-bf25-7cc5985f5988" providerId="ADAL" clId="{3E8CBFA2-7D8D-4B1C-87B2-BC572DE603F7}" dt="2024-11-13T21:43:27.528" v="79" actId="20577"/>
          <ac:spMkLst>
            <pc:docMk/>
            <pc:sldMk cId="448404885" sldId="507"/>
            <ac:spMk id="3" creationId="{7714B97F-CABD-A79E-B187-FE463460BD12}"/>
          </ac:spMkLst>
        </pc:spChg>
      </pc:sldChg>
      <pc:sldChg chg="modSp new mod">
        <pc:chgData name="Bradford Barker" userId="8285239e-3342-4d7a-bf25-7cc5985f5988" providerId="ADAL" clId="{3E8CBFA2-7D8D-4B1C-87B2-BC572DE603F7}" dt="2024-11-14T14:05:12.004" v="239" actId="20577"/>
        <pc:sldMkLst>
          <pc:docMk/>
          <pc:sldMk cId="3110250283" sldId="508"/>
        </pc:sldMkLst>
        <pc:spChg chg="mod">
          <ac:chgData name="Bradford Barker" userId="8285239e-3342-4d7a-bf25-7cc5985f5988" providerId="ADAL" clId="{3E8CBFA2-7D8D-4B1C-87B2-BC572DE603F7}" dt="2024-11-14T14:03:48.861" v="87" actId="20577"/>
          <ac:spMkLst>
            <pc:docMk/>
            <pc:sldMk cId="3110250283" sldId="508"/>
            <ac:spMk id="2" creationId="{EDD87317-8956-F884-F36F-A6047543CD90}"/>
          </ac:spMkLst>
        </pc:spChg>
        <pc:spChg chg="mod">
          <ac:chgData name="Bradford Barker" userId="8285239e-3342-4d7a-bf25-7cc5985f5988" providerId="ADAL" clId="{3E8CBFA2-7D8D-4B1C-87B2-BC572DE603F7}" dt="2024-11-14T14:05:12.004" v="239" actId="20577"/>
          <ac:spMkLst>
            <pc:docMk/>
            <pc:sldMk cId="3110250283" sldId="508"/>
            <ac:spMk id="3" creationId="{4B4A6804-76BD-A551-6E6F-985AD210BC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431C7-53A6-42BD-A8A5-C7DED350851E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82710-A005-4050-81ED-A93BBE085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3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82710-A005-4050-81ED-A93BBE085B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3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9114-BB2B-85C5-F1B9-533E1C5B3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0B2B0-B803-1E2E-4A4E-4DCCB8569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08E6D-8849-79D9-B8F5-3E6700AA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B6C95-4ED7-7B13-8FC7-F97B7E5B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5AE0-3F3A-3E8B-51CC-B7410B94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2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AE38E-DD5B-7D20-D2B4-33B916BA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96CB-9CEC-4A0F-5872-F353EFACB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B5C52-E247-1D98-71C8-07349AA8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AB88-35FD-0B0A-363F-F1131DD5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16267-7656-8500-E2E0-C122326D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6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B1A5-9329-0ADC-012E-41095C75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3EC70-B4F3-401B-2DD9-EACBE958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E0D86-9111-6381-5DCC-B3C0AA72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DE15-8E5C-5B51-17F2-E8842644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9335E-197D-4A25-6FC1-B410F0BB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7DE6-82F0-FA82-DC8B-75EF3422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C31EE-DAB7-EE71-148B-869EE5DB2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7AB21-71F5-CC44-F886-D0BA9086F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91EB5-2534-50FD-3A19-5B9CDF8C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323C0-88E9-33EA-8226-BB7983EA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B205F-4257-B99F-D4AE-E0C0A4D0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1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620C-3246-179B-5E65-130434FB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26D13-AE20-2FF9-59C8-AE1BD609B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80E7-CBAA-31B0-4A24-599EB12E9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8E5B0-C7D2-B9CE-B083-32ABAD022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FFBEC-5D5D-DAB0-D572-F630DF772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8A60F3-C850-CD83-6FBA-1228385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4F4BE-D2EB-3FA0-C6A8-DE4B838B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EE7A5-B14B-219A-33A5-537D81F4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7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ECB3-689A-C26C-D160-3B9016E5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E352F-990F-7FD1-235C-04EF1216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1490D-1F14-3B83-7B9B-93C84ED3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D6FD2-576B-5AC0-FFB2-405ACF5A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34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FFD7F-FF6F-193B-3329-CE121031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0F63F-C313-F54E-0A66-0CE085DB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3EE8D-E43F-4A6E-3766-FD53CA40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0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824E-CBDA-5DA6-7514-CF5212DD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3539-686D-56FD-CD9D-97ED989A8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2A7CA-1FEA-EFB4-5692-9B57F5E03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2C0C8-4FC4-48D2-0740-FB12B715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03C37-8E16-0D36-F482-52BB657C0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B38F-244E-BDB1-5E71-A168968B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8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ADE0-45C1-30FD-D47A-F45B355B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57574-5919-58CD-C709-2EB13C5EF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BAD29-4247-6701-95DE-C2E068440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40FC0-76DF-C976-CBDC-D1D6F3A1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A6E0A-F351-E709-D6F1-83EEED29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D8CD4-F220-9F5C-078E-BD4B6116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7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E632-AE50-4F3E-8DD9-83B14008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B4D94-A0C6-457D-314E-A713BF89B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35477-7CE0-C991-9DF1-CAB60693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14C5-B328-ABCB-CD39-1E6368E0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D78CC-45F4-E339-162B-91C07B5E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43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0BDC0-86F3-FA68-451C-B0AF92355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1C344-B5CA-3FBC-EA2A-7B61739C4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FDEB-0CE4-151A-45FC-96EF344B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A3EB-15CC-0949-3E6C-EE9BAC26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30F2-BEB5-B689-8AB5-37CBA072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6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95FEA-F66E-3CCC-B106-F373AF78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E98D5-10F4-F6B8-D10A-5C8405736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1E1C9-B56D-A24F-66C4-6EE737F05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BE952-8C30-4FA6-9822-B1C7CC982B54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A634-1941-57C6-BF78-6AD1DB262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E057-27FD-01ED-C416-7EB49D2C1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1223A-283E-4418-9ABE-EB604938B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140419" y="-6720"/>
            <a:ext cx="8156934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</a:p>
          <a:p>
            <a:pPr algn="l">
              <a:defRPr/>
            </a:pP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Midterm 3 Review</a:t>
            </a:r>
          </a:p>
          <a:p>
            <a:pPr algn="l">
              <a:defRPr/>
            </a:pPr>
            <a:endParaRPr lang="en-US" sz="65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7317-8956-F884-F36F-A6047543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6804-76BD-A551-6E6F-985AD210B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questions total</a:t>
            </a:r>
          </a:p>
          <a:p>
            <a:endParaRPr lang="en-US" dirty="0"/>
          </a:p>
          <a:p>
            <a:r>
              <a:rPr lang="en-US" b="1" i="1" dirty="0"/>
              <a:t>Six</a:t>
            </a:r>
            <a:r>
              <a:rPr lang="en-US" dirty="0"/>
              <a:t> Multiple Choice questions</a:t>
            </a:r>
          </a:p>
          <a:p>
            <a:endParaRPr lang="en-US" dirty="0"/>
          </a:p>
          <a:p>
            <a:r>
              <a:rPr lang="en-US" dirty="0"/>
              <a:t>“Analyze the following code” question</a:t>
            </a:r>
          </a:p>
          <a:p>
            <a:endParaRPr lang="en-US" dirty="0"/>
          </a:p>
          <a:p>
            <a:r>
              <a:rPr lang="en-US" dirty="0"/>
              <a:t>Three Free-Response (“Hand-written Coding”) 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25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65A9-774F-3BE1-B472-83FA1393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5A786-7734-A27E-3078-289B3F9CE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  <a:p>
            <a:pPr lvl="1"/>
            <a:r>
              <a:rPr lang="en-US" dirty="0"/>
              <a:t>Arrays</a:t>
            </a:r>
          </a:p>
          <a:p>
            <a:pPr lvl="1"/>
            <a:r>
              <a:rPr lang="en-US" dirty="0"/>
              <a:t>Plotting</a:t>
            </a:r>
          </a:p>
          <a:p>
            <a:pPr lvl="1"/>
            <a:r>
              <a:rPr lang="en-US" dirty="0"/>
              <a:t>MATLAB functions such as </a:t>
            </a:r>
            <a:r>
              <a:rPr lang="en-US" dirty="0" err="1"/>
              <a:t>linspace</a:t>
            </a:r>
            <a:endParaRPr lang="en-US" dirty="0"/>
          </a:p>
          <a:p>
            <a:r>
              <a:rPr lang="en-US" dirty="0"/>
              <a:t>Chapter 5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Functions that call Subfunctions</a:t>
            </a:r>
          </a:p>
          <a:p>
            <a:r>
              <a:rPr lang="en-US" dirty="0"/>
              <a:t>Cumulative aspects of the previous chapters that Chapter 4 and Chapter 5 depend on and use</a:t>
            </a:r>
          </a:p>
        </p:txBody>
      </p:sp>
    </p:spTree>
    <p:extLst>
      <p:ext uri="{BB962C8B-B14F-4D97-AF65-F5344CB8AC3E}">
        <p14:creationId xmlns:p14="http://schemas.microsoft.com/office/powerpoint/2010/main" val="326163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0415-4387-642A-72DB-7310D9A3A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study: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E7AC-D182-B627-7F6F-CE39D6D86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  <a:p>
            <a:pPr lvl="1"/>
            <a:r>
              <a:rPr lang="en-US" dirty="0"/>
              <a:t>Especially Slides L14 through L20 and L22(today’s)</a:t>
            </a:r>
          </a:p>
          <a:p>
            <a:pPr lvl="2"/>
            <a:r>
              <a:rPr lang="en-US" dirty="0"/>
              <a:t>Note: Our L16 slides are really a first-draft for L17 and L18</a:t>
            </a:r>
          </a:p>
          <a:p>
            <a:r>
              <a:rPr lang="en-US" dirty="0"/>
              <a:t>In Class Assignments</a:t>
            </a:r>
          </a:p>
          <a:p>
            <a:r>
              <a:rPr lang="en-US" dirty="0"/>
              <a:t>Homework</a:t>
            </a:r>
          </a:p>
          <a:p>
            <a:pPr lvl="1"/>
            <a:r>
              <a:rPr lang="en-US" dirty="0"/>
              <a:t>Homework 6, 7, and 8</a:t>
            </a:r>
          </a:p>
          <a:p>
            <a:pPr lvl="2"/>
            <a:r>
              <a:rPr lang="en-US" dirty="0"/>
              <a:t>7 is due Monday, Nov. 18</a:t>
            </a:r>
            <a:r>
              <a:rPr lang="en-US" baseline="30000" dirty="0"/>
              <a:t>th</a:t>
            </a:r>
            <a:endParaRPr lang="en-US" dirty="0"/>
          </a:p>
          <a:p>
            <a:pPr lvl="2"/>
            <a:r>
              <a:rPr lang="en-US" dirty="0"/>
              <a:t>8 is due Dec. 2, but available now</a:t>
            </a:r>
          </a:p>
        </p:txBody>
      </p:sp>
    </p:spTree>
    <p:extLst>
      <p:ext uri="{BB962C8B-B14F-4D97-AF65-F5344CB8AC3E}">
        <p14:creationId xmlns:p14="http://schemas.microsoft.com/office/powerpoint/2010/main" val="115150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FA16-69C9-18EB-0844-4B84874F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3803-3970-5D19-621D-1E1D58BF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row vector called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vrow</a:t>
            </a:r>
            <a:r>
              <a:rPr lang="en-US" dirty="0"/>
              <a:t>. . .</a:t>
            </a:r>
          </a:p>
          <a:p>
            <a:r>
              <a:rPr lang="en-US" dirty="0"/>
              <a:t>. . . that has five elements, . . .</a:t>
            </a:r>
          </a:p>
          <a:p>
            <a:r>
              <a:rPr lang="en-US" dirty="0"/>
              <a:t>. . . starting from 1, . . .</a:t>
            </a:r>
          </a:p>
          <a:p>
            <a:r>
              <a:rPr lang="en-US" dirty="0"/>
              <a:t>. . .ending at 5, . . .</a:t>
            </a:r>
          </a:p>
          <a:p>
            <a:r>
              <a:rPr lang="en-US" dirty="0"/>
              <a:t> spaced by 1</a:t>
            </a:r>
          </a:p>
        </p:txBody>
      </p:sp>
    </p:spTree>
    <p:extLst>
      <p:ext uri="{BB962C8B-B14F-4D97-AF65-F5344CB8AC3E}">
        <p14:creationId xmlns:p14="http://schemas.microsoft.com/office/powerpoint/2010/main" val="424301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EED8D8-7414-4F83-B695-70BEF5C6C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63" y="863616"/>
            <a:ext cx="5867742" cy="2306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0038CC-CAFE-0940-85B3-44112F14A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42" y="3519575"/>
            <a:ext cx="5926075" cy="2687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070B65-D485-2F18-B0F1-848DCA03BE19}"/>
              </a:ext>
            </a:extLst>
          </p:cNvPr>
          <p:cNvSpPr txBox="1"/>
          <p:nvPr/>
        </p:nvSpPr>
        <p:spPr>
          <a:xfrm>
            <a:off x="1398196" y="143082"/>
            <a:ext cx="4606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Colon operator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58ABC-4408-FE96-0626-02AF40373AEC}"/>
              </a:ext>
            </a:extLst>
          </p:cNvPr>
          <p:cNvSpPr txBox="1"/>
          <p:nvPr/>
        </p:nvSpPr>
        <p:spPr>
          <a:xfrm>
            <a:off x="1398196" y="2983185"/>
            <a:ext cx="4606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“By hand”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01C93-B939-8D43-E007-07A4B480122A}"/>
              </a:ext>
            </a:extLst>
          </p:cNvPr>
          <p:cNvSpPr txBox="1"/>
          <p:nvPr/>
        </p:nvSpPr>
        <p:spPr>
          <a:xfrm>
            <a:off x="6004423" y="3964675"/>
            <a:ext cx="6193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Using the </a:t>
            </a:r>
            <a:r>
              <a:rPr lang="en-US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linspace</a:t>
            </a:r>
            <a:r>
              <a:rPr lang="en-US" sz="3600" dirty="0">
                <a:solidFill>
                  <a:srgbClr val="FF0000"/>
                </a:solidFill>
              </a:rPr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262011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5F35-8111-D621-A70A-E467D014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7282-04C1-1234-509D-DF59F5EB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8A23-C0D2-A88B-3ADB-65693206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column vector called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vcol</a:t>
            </a:r>
            <a:r>
              <a:rPr lang="en-US" dirty="0"/>
              <a:t>. . .</a:t>
            </a:r>
          </a:p>
          <a:p>
            <a:r>
              <a:rPr lang="en-US" dirty="0"/>
              <a:t>. . . that has five elements, . . .</a:t>
            </a:r>
          </a:p>
          <a:p>
            <a:r>
              <a:rPr lang="en-US" dirty="0"/>
              <a:t>. . . starting from 1, . . .</a:t>
            </a:r>
          </a:p>
          <a:p>
            <a:r>
              <a:rPr lang="en-US" dirty="0"/>
              <a:t>. . . ending at 5, . . .</a:t>
            </a:r>
          </a:p>
          <a:p>
            <a:r>
              <a:rPr lang="en-US" dirty="0"/>
              <a:t> spaced by 1</a:t>
            </a:r>
          </a:p>
        </p:txBody>
      </p:sp>
    </p:spTree>
    <p:extLst>
      <p:ext uri="{BB962C8B-B14F-4D97-AF65-F5344CB8AC3E}">
        <p14:creationId xmlns:p14="http://schemas.microsoft.com/office/powerpoint/2010/main" val="161700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0E42-3F15-A293-F1F4-A4376D6BE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58F26-BAB2-8E71-856B-DF71AC694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69" y="1629835"/>
            <a:ext cx="3580967" cy="4556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185AD-EDFF-B6B8-A61C-40E9B0DD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48" y="1620721"/>
            <a:ext cx="6340652" cy="4556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11B7F4-FEB8-047B-51AD-8517ED04158A}"/>
              </a:ext>
            </a:extLst>
          </p:cNvPr>
          <p:cNvSpPr txBox="1"/>
          <p:nvPr/>
        </p:nvSpPr>
        <p:spPr>
          <a:xfrm>
            <a:off x="277407" y="331611"/>
            <a:ext cx="4606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Using the “transpose”</a:t>
            </a:r>
          </a:p>
          <a:p>
            <a:r>
              <a:rPr lang="en-US" sz="3600" dirty="0">
                <a:solidFill>
                  <a:srgbClr val="FF0000"/>
                </a:solidFill>
              </a:rPr>
              <a:t> command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54581-934C-30C1-C5FD-07D227543659}"/>
              </a:ext>
            </a:extLst>
          </p:cNvPr>
          <p:cNvSpPr txBox="1"/>
          <p:nvPr/>
        </p:nvSpPr>
        <p:spPr>
          <a:xfrm>
            <a:off x="6216597" y="314577"/>
            <a:ext cx="4606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By hand, with semi-colons</a:t>
            </a:r>
          </a:p>
        </p:txBody>
      </p:sp>
    </p:spTree>
    <p:extLst>
      <p:ext uri="{BB962C8B-B14F-4D97-AF65-F5344CB8AC3E}">
        <p14:creationId xmlns:p14="http://schemas.microsoft.com/office/powerpoint/2010/main" val="414995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9A53-6589-25E9-EF9E-4B357477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DBEE-7C3E-D670-9E36-EDF053A2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38961-0D21-DFCF-9EA0-709FAF67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matrix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  <a:r>
              <a:rPr lang="en-US" dirty="0"/>
              <a:t> . . .</a:t>
            </a:r>
          </a:p>
          <a:p>
            <a:r>
              <a:rPr lang="en-US" dirty="0"/>
              <a:t>. . . that looks like the following: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98830-56EE-9A1F-8C02-6F03B951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049" y="3601219"/>
            <a:ext cx="6121182" cy="23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36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6A1050-CC1E-623F-452D-49068C2E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61" y="1150166"/>
            <a:ext cx="10174579" cy="7442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20ADEE-1C06-504C-85E0-BE68CA301065}"/>
              </a:ext>
            </a:extLst>
          </p:cNvPr>
          <p:cNvSpPr txBox="1"/>
          <p:nvPr/>
        </p:nvSpPr>
        <p:spPr>
          <a:xfrm>
            <a:off x="4211479" y="392486"/>
            <a:ext cx="4606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By hand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6832C-3448-012A-DDCA-CD82C9A07F4F}"/>
              </a:ext>
            </a:extLst>
          </p:cNvPr>
          <p:cNvSpPr txBox="1"/>
          <p:nvPr/>
        </p:nvSpPr>
        <p:spPr>
          <a:xfrm>
            <a:off x="509822" y="2148448"/>
            <a:ext cx="11561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By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i="1" dirty="0">
                <a:solidFill>
                  <a:srgbClr val="FF0000"/>
                </a:solidFill>
              </a:rPr>
              <a:t>concatenating </a:t>
            </a:r>
            <a:r>
              <a:rPr lang="en-US" sz="2800" dirty="0">
                <a:solidFill>
                  <a:srgbClr val="FF0000"/>
                </a:solidFill>
              </a:rPr>
              <a:t>arrays made with </a:t>
            </a:r>
            <a:r>
              <a:rPr lang="en-US" sz="3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linspace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and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2E457-1096-B31F-92B4-862FEAAEC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1" y="2975382"/>
            <a:ext cx="11673977" cy="2768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DFB9AD-3D09-6837-8E52-F662C74416F3}"/>
              </a:ext>
            </a:extLst>
          </p:cNvPr>
          <p:cNvSpPr txBox="1"/>
          <p:nvPr/>
        </p:nvSpPr>
        <p:spPr>
          <a:xfrm>
            <a:off x="5033983" y="3429000"/>
            <a:ext cx="251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 row, 2 columns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95B53-64D9-3636-F82A-A5532DF82C50}"/>
              </a:ext>
            </a:extLst>
          </p:cNvPr>
          <p:cNvSpPr txBox="1"/>
          <p:nvPr/>
        </p:nvSpPr>
        <p:spPr>
          <a:xfrm>
            <a:off x="9914200" y="3455103"/>
            <a:ext cx="251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 row, 4 columns</a:t>
            </a:r>
          </a:p>
        </p:txBody>
      </p:sp>
    </p:spTree>
    <p:extLst>
      <p:ext uri="{BB962C8B-B14F-4D97-AF65-F5344CB8AC3E}">
        <p14:creationId xmlns:p14="http://schemas.microsoft.com/office/powerpoint/2010/main" val="141314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0314-26C4-4E88-DAF9-1AF9F47F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A68C-548E-71C9-69B3-0785F056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DEE8A-A4E8-87E7-A4CE-088792DFE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84" y="1641104"/>
            <a:ext cx="10515600" cy="4702289"/>
          </a:xfrm>
        </p:spPr>
        <p:txBody>
          <a:bodyPr>
            <a:normAutofit/>
          </a:bodyPr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row vector named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rlin</a:t>
            </a:r>
            <a:r>
              <a:rPr lang="en-US" dirty="0"/>
              <a:t> . . .</a:t>
            </a:r>
          </a:p>
          <a:p>
            <a:r>
              <a:rPr lang="en-US" dirty="0"/>
              <a:t>. . . by calling the </a:t>
            </a:r>
            <a:r>
              <a:rPr lang="en-US" dirty="0" err="1"/>
              <a:t>linspace</a:t>
            </a:r>
            <a:r>
              <a:rPr lang="en-US" dirty="0"/>
              <a:t> function . . .</a:t>
            </a:r>
          </a:p>
          <a:p>
            <a:r>
              <a:rPr lang="en-US" dirty="0"/>
              <a:t>. . . with a minimum value of 0, . . .</a:t>
            </a:r>
          </a:p>
          <a:p>
            <a:r>
              <a:rPr lang="en-US" dirty="0"/>
              <a:t>. . . a maximum value of 6</a:t>
            </a:r>
            <a:r>
              <a:rPr lang="en-US" i="1" dirty="0">
                <a:latin typeface="Symbol" panose="05050102010706020507" pitchFamily="18" charset="2"/>
              </a:rPr>
              <a:t>p</a:t>
            </a:r>
            <a:r>
              <a:rPr lang="en-US" dirty="0"/>
              <a:t>, </a:t>
            </a:r>
          </a:p>
          <a:p>
            <a:r>
              <a:rPr lang="en-US" dirty="0"/>
              <a:t>. . . and 100 elements.</a:t>
            </a:r>
          </a:p>
          <a:p>
            <a:r>
              <a:rPr lang="en-US" dirty="0"/>
              <a:t>Then, DISPLAY the FIRST entry (should be 0),</a:t>
            </a:r>
          </a:p>
          <a:p>
            <a:r>
              <a:rPr lang="en-US" dirty="0"/>
              <a:t>DISPLAY the LAST entry is (should be 6</a:t>
            </a:r>
            <a:r>
              <a:rPr lang="en-US" i="1" dirty="0">
                <a:latin typeface="Symbol" panose="05050102010706020507" pitchFamily="18" charset="2"/>
              </a:rPr>
              <a:t>p),</a:t>
            </a:r>
            <a:endParaRPr lang="en-US" dirty="0"/>
          </a:p>
          <a:p>
            <a:r>
              <a:rPr lang="en-US" dirty="0"/>
              <a:t>DISPLAY the number of elements (should be 100)</a:t>
            </a:r>
          </a:p>
        </p:txBody>
      </p:sp>
    </p:spTree>
    <p:extLst>
      <p:ext uri="{BB962C8B-B14F-4D97-AF65-F5344CB8AC3E}">
        <p14:creationId xmlns:p14="http://schemas.microsoft.com/office/powerpoint/2010/main" val="3316350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2A07-EEB5-BAF8-CA2A-B12F033F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E89B6-A7C8-828B-2AEA-FC0CD0D5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56" y="446315"/>
            <a:ext cx="8421275" cy="771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B08774-AE6D-1586-23A1-7FC3741C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4" y="1611087"/>
            <a:ext cx="5410955" cy="3439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DE638A-C4AD-365B-6227-D5689B41C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4" y="4973209"/>
            <a:ext cx="602064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1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9F51-9D4B-6C1D-AB05-6863144F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4FB5-37D9-2172-079A-988454E24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8302-B43E-F935-EBA1-07D23510E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row vector named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rspace</a:t>
            </a:r>
            <a:r>
              <a:rPr lang="en-US" dirty="0"/>
              <a:t> . . .</a:t>
            </a:r>
          </a:p>
          <a:p>
            <a:r>
              <a:rPr lang="en-US" dirty="0"/>
              <a:t>. . . by using the “:” operators . . .</a:t>
            </a:r>
          </a:p>
          <a:p>
            <a:r>
              <a:rPr lang="en-US" dirty="0"/>
              <a:t>. . . with a minimum value of 0, . . .</a:t>
            </a:r>
          </a:p>
          <a:p>
            <a:r>
              <a:rPr lang="en-US" dirty="0"/>
              <a:t>. . . a maximum value of (up to) 6</a:t>
            </a:r>
            <a:r>
              <a:rPr lang="en-US" i="1" dirty="0">
                <a:latin typeface="Symbol" panose="05050102010706020507" pitchFamily="18" charset="2"/>
              </a:rPr>
              <a:t>p</a:t>
            </a:r>
            <a:r>
              <a:rPr lang="en-US" dirty="0"/>
              <a:t>, </a:t>
            </a:r>
          </a:p>
          <a:p>
            <a:r>
              <a:rPr lang="en-US" dirty="0"/>
              <a:t>. . . and a spacing of 0.02.</a:t>
            </a:r>
          </a:p>
          <a:p>
            <a:r>
              <a:rPr lang="en-US" dirty="0"/>
              <a:t>Then, DISPLAY the value of the FIRST entry</a:t>
            </a:r>
          </a:p>
          <a:p>
            <a:r>
              <a:rPr lang="en-US" dirty="0"/>
              <a:t>DISPLAY the value of the LAST entry</a:t>
            </a:r>
          </a:p>
          <a:p>
            <a:r>
              <a:rPr lang="en-US" dirty="0"/>
              <a:t>DISPLAY the number of elements </a:t>
            </a:r>
          </a:p>
        </p:txBody>
      </p:sp>
    </p:spTree>
    <p:extLst>
      <p:ext uri="{BB962C8B-B14F-4D97-AF65-F5344CB8AC3E}">
        <p14:creationId xmlns:p14="http://schemas.microsoft.com/office/powerpoint/2010/main" val="3400547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885C5-1416-FFE9-4BD7-2991064B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23F89-0AE0-DE52-745A-B62CB0BA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935" y="495180"/>
            <a:ext cx="6982799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88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7C0A-B312-FE06-9BED-D02F652E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0572-F540-6AB2-195C-FF25B020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0677-0EF1-A230-F58C-6382E7943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“sub-matrix”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  <a:r>
              <a:rPr lang="en-US" dirty="0"/>
              <a:t>. . .</a:t>
            </a:r>
          </a:p>
          <a:p>
            <a:r>
              <a:rPr lang="en-US" dirty="0"/>
              <a:t> . . .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SubMat</a:t>
            </a:r>
            <a:r>
              <a:rPr lang="en-US" dirty="0"/>
              <a:t> . . .</a:t>
            </a:r>
          </a:p>
          <a:p>
            <a:r>
              <a:rPr lang="en-US" dirty="0"/>
              <a:t>. . . Made of the first two rows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  <a:r>
              <a:rPr lang="en-US" dirty="0"/>
              <a:t> . . .</a:t>
            </a:r>
          </a:p>
          <a:p>
            <a:r>
              <a:rPr lang="en-US" dirty="0"/>
              <a:t>. . . And the even columns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</a:p>
        </p:txBody>
      </p:sp>
    </p:spTree>
    <p:extLst>
      <p:ext uri="{BB962C8B-B14F-4D97-AF65-F5344CB8AC3E}">
        <p14:creationId xmlns:p14="http://schemas.microsoft.com/office/powerpoint/2010/main" val="277205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4FE6-D678-7024-9F32-4B3E9802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64DBF-0DC9-BA80-E1F5-B8133D7E3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447" y="1649452"/>
            <a:ext cx="5826254" cy="31103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94E0CD-03E9-B5CA-91FC-C422CD5A0603}"/>
              </a:ext>
            </a:extLst>
          </p:cNvPr>
          <p:cNvSpPr txBox="1"/>
          <p:nvPr/>
        </p:nvSpPr>
        <p:spPr>
          <a:xfrm>
            <a:off x="7647336" y="3101484"/>
            <a:ext cx="36288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Stopping at “4” is also fine! (Full credit)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33AB8F-70FC-BF4B-7710-C65784457D61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561227" y="2177338"/>
            <a:ext cx="1900558" cy="9241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61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5932-AFFB-5A49-CEDD-6AC30E41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D98E-1469-013C-CA6D-E5BE2D56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AC9E-D30F-FCF6-D0C6-885767C9F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Store the LAST ROW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SubMat</a:t>
            </a:r>
            <a:r>
              <a:rPr lang="en-US" dirty="0"/>
              <a:t> . . .</a:t>
            </a:r>
          </a:p>
          <a:p>
            <a:r>
              <a:rPr lang="en-US" dirty="0">
                <a:cs typeface="Courier New" panose="02070309020205020404" pitchFamily="49" charset="0"/>
              </a:rPr>
              <a:t>...as a vector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lastrow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13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BC4C-A6CF-BB1D-0083-0737F539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DA07-3906-BB33-E2A9-34E68F54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1A2F-1FF1-B04B-D072-63E62C66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Store the LAST ROW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SubMat</a:t>
            </a:r>
            <a:r>
              <a:rPr lang="en-US" dirty="0"/>
              <a:t> . . .</a:t>
            </a:r>
          </a:p>
          <a:p>
            <a:r>
              <a:rPr lang="en-US" dirty="0">
                <a:cs typeface="Courier New" panose="02070309020205020404" pitchFamily="49" charset="0"/>
              </a:rPr>
              <a:t>...as a vector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lastrow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D27E2-4BDF-45B0-CA64-E6A74A6CB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61" y="3749284"/>
            <a:ext cx="5175112" cy="22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3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595D-B62E-AE3F-FD59-694EB817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D9CD-2AA9-20BF-9AEA-AC5E11C8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8DDA-67D4-0D02-9814-F2B3C45B3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Use a function to find out the number of rows</a:t>
            </a:r>
          </a:p>
          <a:p>
            <a:r>
              <a:rPr lang="en-US" dirty="0"/>
              <a:t>. . . And the number of columns</a:t>
            </a:r>
          </a:p>
          <a:p>
            <a:r>
              <a:rPr lang="en-US" dirty="0"/>
              <a:t>. . . Of the matrix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</a:t>
            </a:r>
          </a:p>
          <a:p>
            <a:r>
              <a:rPr lang="en-US" dirty="0"/>
              <a:t>. . . And print out each: “The number of rows is ____”,</a:t>
            </a:r>
          </a:p>
          <a:p>
            <a:r>
              <a:rPr lang="en-US" dirty="0"/>
              <a:t>“The number of columns is ___”</a:t>
            </a:r>
          </a:p>
        </p:txBody>
      </p:sp>
    </p:spTree>
    <p:extLst>
      <p:ext uri="{BB962C8B-B14F-4D97-AF65-F5344CB8AC3E}">
        <p14:creationId xmlns:p14="http://schemas.microsoft.com/office/powerpoint/2010/main" val="1990002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507F-F551-6D18-620A-A430C2DB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42BDF4-9261-A181-8DD0-21DC8E37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51" y="799243"/>
            <a:ext cx="10042682" cy="51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94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F623-43CF-FC87-3CAF-33E84505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491E-19EB-99CC-2F31-5AEE7F1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Arrays, Quick Practice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13CA-333E-8633-CBAD-87194F876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the command line . . .</a:t>
            </a:r>
          </a:p>
          <a:p>
            <a:r>
              <a:rPr lang="en-US" dirty="0"/>
              <a:t> . . . Make a new array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vrowrev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 . . . By using “:” notation</a:t>
            </a:r>
          </a:p>
          <a:p>
            <a:r>
              <a:rPr lang="en-US" dirty="0"/>
              <a:t>. . . And has the elements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vrow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. . . But in reverse order!</a:t>
            </a:r>
          </a:p>
        </p:txBody>
      </p:sp>
    </p:spTree>
    <p:extLst>
      <p:ext uri="{BB962C8B-B14F-4D97-AF65-F5344CB8AC3E}">
        <p14:creationId xmlns:p14="http://schemas.microsoft.com/office/powerpoint/2010/main" val="1746591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77F9-D959-1B1D-350D-BF7BC1E2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36CFD0-630D-DE48-B0AF-4FA130C06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70" y="1348284"/>
            <a:ext cx="9030960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76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22A3-B2AD-E5E3-8E18-1AF8CCAB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2BFA-3429-7A06-00EA-B8501C57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90" y="-65422"/>
            <a:ext cx="10515600" cy="1325563"/>
          </a:xfrm>
        </p:spPr>
        <p:txBody>
          <a:bodyPr/>
          <a:lstStyle/>
          <a:p>
            <a:r>
              <a:rPr lang="en-US" dirty="0"/>
              <a:t>Chapter 4: Plotting, Practice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FC8A-760A-34A6-1B6F-70BAD25D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65" y="1395455"/>
            <a:ext cx="11381135" cy="48700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an m-file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Midterm3PracticePlot1.m</a:t>
            </a:r>
          </a:p>
          <a:p>
            <a:r>
              <a:rPr lang="en-US" dirty="0"/>
              <a:t>. . . Make a row vector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xvals</a:t>
            </a:r>
            <a:r>
              <a:rPr lang="en-US" dirty="0"/>
              <a:t> . . .</a:t>
            </a:r>
          </a:p>
          <a:p>
            <a:r>
              <a:rPr lang="en-US" dirty="0"/>
              <a:t>. . . Minimum value of 0, maximum value of </a:t>
            </a:r>
            <a:r>
              <a:rPr lang="en-US" dirty="0">
                <a:latin typeface="Symbol" panose="05050102010706020507" pitchFamily="18" charset="2"/>
              </a:rPr>
              <a:t>p</a:t>
            </a:r>
          </a:p>
          <a:p>
            <a:r>
              <a:rPr lang="en-US" dirty="0">
                <a:latin typeface="Symbol" panose="05050102010706020507" pitchFamily="18" charset="2"/>
              </a:rPr>
              <a:t>. . .</a:t>
            </a:r>
            <a:r>
              <a:rPr lang="en-US" dirty="0">
                <a:latin typeface="+mj-lt"/>
              </a:rPr>
              <a:t>With 100 elements</a:t>
            </a:r>
            <a:r>
              <a:rPr lang="en-US" dirty="0"/>
              <a:t> </a:t>
            </a:r>
          </a:p>
          <a:p>
            <a:r>
              <a:rPr lang="en-US" dirty="0"/>
              <a:t>Evaluate the </a:t>
            </a:r>
            <a:r>
              <a:rPr lang="en-US" b="1" i="1" dirty="0"/>
              <a:t>tangent function </a:t>
            </a:r>
            <a:r>
              <a:rPr lang="en-US" dirty="0"/>
              <a:t>for every value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Evaluate the function </a:t>
            </a:r>
            <a:r>
              <a:rPr lang="en-US" b="1" i="1" dirty="0"/>
              <a:t>x + x</a:t>
            </a:r>
            <a:r>
              <a:rPr lang="en-US" b="1" i="1" baseline="30000" dirty="0"/>
              <a:t>3</a:t>
            </a:r>
            <a:r>
              <a:rPr lang="en-US" b="1" i="1" dirty="0"/>
              <a:t>/3 </a:t>
            </a:r>
            <a:r>
              <a:rPr lang="en-US" dirty="0"/>
              <a:t>for every value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And PLOT both of these functions vs. </a:t>
            </a:r>
            <a:r>
              <a:rPr lang="en-US" dirty="0" err="1"/>
              <a:t>xvals</a:t>
            </a:r>
            <a:endParaRPr lang="en-US" dirty="0"/>
          </a:p>
          <a:p>
            <a:r>
              <a:rPr lang="en-US" dirty="0"/>
              <a:t>. . .With different </a:t>
            </a:r>
            <a:r>
              <a:rPr lang="en-US" dirty="0" err="1"/>
              <a:t>LineShapes</a:t>
            </a:r>
            <a:r>
              <a:rPr lang="en-US" dirty="0"/>
              <a:t>, different colors</a:t>
            </a:r>
          </a:p>
          <a:p>
            <a:r>
              <a:rPr lang="en-US" dirty="0"/>
              <a:t>. . . And limiting the y-axis between -5 and +5</a:t>
            </a:r>
          </a:p>
          <a:p>
            <a:r>
              <a:rPr lang="en-US" dirty="0"/>
              <a:t>Give the plot a LEGEND, </a:t>
            </a:r>
          </a:p>
          <a:p>
            <a:r>
              <a:rPr lang="en-US" dirty="0"/>
              <a:t>Label the x-axis “X Values” and the y-axis “Y Values”</a:t>
            </a:r>
          </a:p>
        </p:txBody>
      </p:sp>
    </p:spTree>
    <p:extLst>
      <p:ext uri="{BB962C8B-B14F-4D97-AF65-F5344CB8AC3E}">
        <p14:creationId xmlns:p14="http://schemas.microsoft.com/office/powerpoint/2010/main" val="3620428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24D828B7-AA47-8CA1-D397-8DF6ADBCD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"/>
          <a:stretch/>
        </p:blipFill>
        <p:spPr>
          <a:xfrm>
            <a:off x="126898" y="855885"/>
            <a:ext cx="11938204" cy="514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89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17D3-1DEE-6544-9345-71BA73C0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5125-9C41-DF60-C162-BEA6B0569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90" y="-65422"/>
            <a:ext cx="10515600" cy="1325563"/>
          </a:xfrm>
        </p:spPr>
        <p:txBody>
          <a:bodyPr/>
          <a:lstStyle/>
          <a:p>
            <a:r>
              <a:rPr lang="en-US" dirty="0"/>
              <a:t>Chapter 4: Plotting, Practice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56BE1-A905-8CC3-4275-A920FEFE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65" y="1395455"/>
            <a:ext cx="11381135" cy="48700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an m-file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Midterm3PracticePlot2.m</a:t>
            </a:r>
          </a:p>
          <a:p>
            <a:r>
              <a:rPr lang="en-US" dirty="0"/>
              <a:t>. . . Make a row vector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. . .</a:t>
            </a:r>
          </a:p>
          <a:p>
            <a:r>
              <a:rPr lang="en-US" dirty="0"/>
              <a:t>. . . Minimum value of -10, maximum value of +10</a:t>
            </a:r>
            <a:endParaRPr lang="en-US" dirty="0">
              <a:latin typeface="Symbol" panose="05050102010706020507" pitchFamily="18" charset="2"/>
            </a:endParaRPr>
          </a:p>
          <a:p>
            <a:r>
              <a:rPr lang="en-US" dirty="0">
                <a:latin typeface="Symbol" panose="05050102010706020507" pitchFamily="18" charset="2"/>
              </a:rPr>
              <a:t>. . .</a:t>
            </a:r>
            <a:r>
              <a:rPr lang="en-US" dirty="0">
                <a:latin typeface="+mj-lt"/>
              </a:rPr>
              <a:t>With 200 elements</a:t>
            </a:r>
            <a:r>
              <a:rPr lang="en-US" dirty="0"/>
              <a:t> </a:t>
            </a:r>
          </a:p>
          <a:p>
            <a:r>
              <a:rPr lang="en-US" dirty="0"/>
              <a:t>Evaluate the function </a:t>
            </a:r>
            <a:r>
              <a:rPr lang="en-US" b="1" i="1" dirty="0"/>
              <a:t>y1 =</a:t>
            </a:r>
            <a:r>
              <a:rPr lang="en-US" dirty="0"/>
              <a:t> </a:t>
            </a:r>
            <a:r>
              <a:rPr lang="en-US" b="1" i="1" dirty="0"/>
              <a:t>exp(-x</a:t>
            </a:r>
            <a:r>
              <a:rPr lang="en-US" b="1" i="1" baseline="30000" dirty="0"/>
              <a:t>2</a:t>
            </a:r>
            <a:r>
              <a:rPr lang="en-US" b="1" i="1" dirty="0"/>
              <a:t>/2)  </a:t>
            </a:r>
            <a:r>
              <a:rPr lang="en-US" dirty="0"/>
              <a:t>for every value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dirty="0"/>
              <a:t>Evaluate the function </a:t>
            </a:r>
            <a:r>
              <a:rPr lang="en-US" b="1" i="1" dirty="0"/>
              <a:t>y2 =</a:t>
            </a:r>
            <a:r>
              <a:rPr lang="en-US" dirty="0"/>
              <a:t> </a:t>
            </a:r>
            <a:r>
              <a:rPr lang="en-US" b="1" i="1" dirty="0"/>
              <a:t>1/( 1 + x</a:t>
            </a:r>
            <a:r>
              <a:rPr lang="en-US" b="1" i="1" baseline="30000" dirty="0"/>
              <a:t>2</a:t>
            </a:r>
            <a:r>
              <a:rPr lang="en-US" b="1" i="1" dirty="0"/>
              <a:t>) </a:t>
            </a:r>
            <a:r>
              <a:rPr lang="en-US" dirty="0"/>
              <a:t>for every value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dirty="0"/>
              <a:t>And PLOT both of these functions vs. </a:t>
            </a:r>
            <a:r>
              <a:rPr lang="en-US" dirty="0" err="1"/>
              <a:t>xvals</a:t>
            </a:r>
            <a:endParaRPr lang="en-US" dirty="0"/>
          </a:p>
          <a:p>
            <a:r>
              <a:rPr lang="en-US" dirty="0"/>
              <a:t>. . .With different </a:t>
            </a:r>
            <a:r>
              <a:rPr lang="en-US" dirty="0" err="1"/>
              <a:t>LineShapes</a:t>
            </a:r>
            <a:r>
              <a:rPr lang="en-US" dirty="0"/>
              <a:t>, different colors</a:t>
            </a:r>
          </a:p>
          <a:p>
            <a:r>
              <a:rPr lang="en-US" dirty="0"/>
              <a:t>. . . And limiting the y-axis between 0 and 1.1*max value between y1 and y2</a:t>
            </a:r>
          </a:p>
          <a:p>
            <a:r>
              <a:rPr lang="en-US" dirty="0"/>
              <a:t>Give the plot a LEGEND, </a:t>
            </a:r>
          </a:p>
          <a:p>
            <a:r>
              <a:rPr lang="en-US" dirty="0"/>
              <a:t>Label the x-axis “X Values” and the y-axis “Y Values”</a:t>
            </a:r>
          </a:p>
        </p:txBody>
      </p:sp>
    </p:spTree>
    <p:extLst>
      <p:ext uri="{BB962C8B-B14F-4D97-AF65-F5344CB8AC3E}">
        <p14:creationId xmlns:p14="http://schemas.microsoft.com/office/powerpoint/2010/main" val="3097395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837F-C353-B443-1CC7-763C364C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50A3B-B44D-258B-1626-CB29FFDBD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7DFD3-D17D-2D10-5152-25816AB5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301"/>
            <a:ext cx="12192000" cy="511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77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2CD1-56BE-90A7-4B82-8D9BA347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04"/>
            <a:ext cx="10515600" cy="1325563"/>
          </a:xfrm>
        </p:spPr>
        <p:txBody>
          <a:bodyPr/>
          <a:lstStyle/>
          <a:p>
            <a:r>
              <a:rPr lang="en-US" dirty="0"/>
              <a:t>Chapter 5: Functions and Subfunctions, Practice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C1F6A-9DA4-F509-D612-FD1C9E621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an m-file named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ReverseRows.m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That has a function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ReverseRows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Which takes as input, in general, a matrix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dirty="0"/>
              <a:t>And produces as its output a matrix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. . .</a:t>
            </a:r>
          </a:p>
          <a:p>
            <a:r>
              <a:rPr lang="en-US" dirty="0"/>
              <a:t>Where each row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is the reverse of the corresponding row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endParaRPr lang="en-US" dirty="0"/>
          </a:p>
          <a:p>
            <a:r>
              <a:rPr lang="en-US" dirty="0"/>
              <a:t>USE A SUBFUNCTION to reverse the rows of A individually</a:t>
            </a:r>
          </a:p>
        </p:txBody>
      </p:sp>
    </p:spTree>
    <p:extLst>
      <p:ext uri="{BB962C8B-B14F-4D97-AF65-F5344CB8AC3E}">
        <p14:creationId xmlns:p14="http://schemas.microsoft.com/office/powerpoint/2010/main" val="4257044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06B1-D772-E75A-2462-FDF76D63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1E4736-EAE3-72B3-359F-0D184789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5: Functions and Subfunctions, Practice 1, Test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15DD8-520F-E148-EC73-2366437F3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84" y="2249677"/>
            <a:ext cx="6868806" cy="337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25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690BFF-7E53-A4BF-11C6-1EC9EB3C4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219" y="539953"/>
            <a:ext cx="6957609" cy="4913643"/>
          </a:xfrm>
        </p:spPr>
      </p:pic>
    </p:spTree>
    <p:extLst>
      <p:ext uri="{BB962C8B-B14F-4D97-AF65-F5344CB8AC3E}">
        <p14:creationId xmlns:p14="http://schemas.microsoft.com/office/powerpoint/2010/main" val="214417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1110</Words>
  <Application>Microsoft Macintosh PowerPoint</Application>
  <PresentationFormat>Widescreen</PresentationFormat>
  <Paragraphs>140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Courier New</vt:lpstr>
      <vt:lpstr>Symbol</vt:lpstr>
      <vt:lpstr>Office Theme</vt:lpstr>
      <vt:lpstr>PowerPoint Presentation</vt:lpstr>
      <vt:lpstr>Format</vt:lpstr>
      <vt:lpstr>General topics</vt:lpstr>
      <vt:lpstr>What to study:</vt:lpstr>
      <vt:lpstr>Chapter 4: Arrays, Quick Practice 1</vt:lpstr>
      <vt:lpstr>PowerPoint Presentation</vt:lpstr>
      <vt:lpstr>Chapter 4: Arrays, Quick Practice 2</vt:lpstr>
      <vt:lpstr>PowerPoint Presentation</vt:lpstr>
      <vt:lpstr>Chapter 4: Arrays, Quick Practice 3</vt:lpstr>
      <vt:lpstr>PowerPoint Presentation</vt:lpstr>
      <vt:lpstr>Chapter 4: Arrays, Quick Practice 4</vt:lpstr>
      <vt:lpstr>PowerPoint Presentation</vt:lpstr>
      <vt:lpstr>Chapter 4: Arrays, Quick Practice 5</vt:lpstr>
      <vt:lpstr>PowerPoint Presentation</vt:lpstr>
      <vt:lpstr>Chapter 4: Arrays, Quick Practice 6</vt:lpstr>
      <vt:lpstr>PowerPoint Presentation</vt:lpstr>
      <vt:lpstr>Chapter 4: Arrays, Quick Practice 7</vt:lpstr>
      <vt:lpstr>Chapter 4: Arrays, Quick Practice 7</vt:lpstr>
      <vt:lpstr>Chapter 4: Arrays, Quick Practice 8</vt:lpstr>
      <vt:lpstr>PowerPoint Presentation</vt:lpstr>
      <vt:lpstr>Chapter 4: Arrays, Quick Practice 9</vt:lpstr>
      <vt:lpstr>PowerPoint Presentation</vt:lpstr>
      <vt:lpstr>Chapter 4: Plotting, Practice 1</vt:lpstr>
      <vt:lpstr>PowerPoint Presentation</vt:lpstr>
      <vt:lpstr>Chapter 4: Plotting, Practice 2</vt:lpstr>
      <vt:lpstr>PowerPoint Presentation</vt:lpstr>
      <vt:lpstr>Chapter 5: Functions and Subfunctions, Practice 1</vt:lpstr>
      <vt:lpstr>Chapter 5: Functions and Subfunctions, Practice 1, Test case</vt:lpstr>
      <vt:lpstr>PowerPoint Presentation</vt:lpstr>
    </vt:vector>
  </TitlesOfParts>
  <Company>Florida Polytechnic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Bradford Barker</dc:creator>
  <cp:lastModifiedBy>Somak Das</cp:lastModifiedBy>
  <cp:revision>3</cp:revision>
  <dcterms:created xsi:type="dcterms:W3CDTF">2024-11-13T20:04:33Z</dcterms:created>
  <dcterms:modified xsi:type="dcterms:W3CDTF">2024-11-14T20:27:10Z</dcterms:modified>
</cp:coreProperties>
</file>